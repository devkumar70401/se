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p0g2LD+aABZpcUDz4CXngZW8b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A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9144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4ED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E2E4ED"/>
                </a:solidFill>
                <a:latin typeface="Trebuchet MS"/>
                <a:ea typeface="Trebuchet MS"/>
                <a:cs typeface="Trebuchet MS"/>
                <a:sym typeface="Trebuchet MS"/>
              </a:rPr>
              <a:t>Weeks 7–8: RNNs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B8FA7"/>
                </a:solidFill>
                <a:latin typeface="Calibri"/>
                <a:ea typeface="Calibri"/>
                <a:cs typeface="Calibri"/>
                <a:sym typeface="Calibri"/>
              </a:rPr>
              <a:t>When Order Matters — Sequences, Memory, and Time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200400" y="3291840"/>
            <a:ext cx="2743200" cy="13716"/>
          </a:xfrm>
          <a:prstGeom prst="rect">
            <a:avLst/>
          </a:prstGeom>
          <a:solidFill>
            <a:srgbClr val="2E33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8FA7"/>
                </a:solidFill>
                <a:latin typeface="Calibri"/>
                <a:ea typeface="Calibri"/>
                <a:cs typeface="Calibri"/>
                <a:sym typeface="Calibri"/>
              </a:rPr>
              <a:t>IIT Madras  ·  Wadhwani School of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6AE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7C6AEF"/>
                </a:solidFill>
                <a:latin typeface="Calibri"/>
                <a:ea typeface="Calibri"/>
                <a:cs typeface="Calibri"/>
                <a:sym typeface="Calibri"/>
              </a:rPr>
              <a:t>Live Coding Session — Weeks 7 &amp; 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8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A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4ED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E2E4ED"/>
                </a:solidFill>
                <a:latin typeface="Trebuchet MS"/>
                <a:ea typeface="Trebuchet MS"/>
                <a:cs typeface="Trebuchet MS"/>
                <a:sym typeface="Trebuchet MS"/>
              </a:rPr>
              <a:t>The RNN: A Network with Memory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7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B8FA7"/>
                </a:solidFill>
                <a:latin typeface="Calibri"/>
                <a:ea typeface="Calibri"/>
                <a:cs typeface="Calibri"/>
                <a:sym typeface="Calibri"/>
              </a:rPr>
              <a:t>Same weights at every step. The hidden state carries information forward.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" name="Google Shape;31;p2"/>
          <p:cNvPicPr preferRelativeResize="0"/>
          <p:nvPr/>
        </p:nvPicPr>
        <p:blipFill rotWithShape="1">
          <a:blip r:embed="rId3">
            <a:alphaModFix/>
          </a:blip>
          <a:srcRect b="0" l="-160" r="160" t="0"/>
          <a:stretch/>
        </p:blipFill>
        <p:spPr>
          <a:xfrm>
            <a:off x="457200" y="1097280"/>
            <a:ext cx="82296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1A2340"/>
          </a:solidFill>
          <a:ln>
            <a:noFill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731520" y="4041648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In PyTorch:  </a:t>
            </a:r>
            <a:r>
              <a:rPr b="0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nn.RNN(input_size, hidden_size, num_layers)</a:t>
            </a:r>
            <a:r>
              <a:rPr b="0" i="0" lang="en-US" sz="1200" u="none" cap="none" strike="noStrike">
                <a:solidFill>
                  <a:srgbClr val="E2E4ED"/>
                </a:solidFill>
                <a:latin typeface="Calibri"/>
                <a:ea typeface="Calibri"/>
                <a:cs typeface="Calibri"/>
                <a:sym typeface="Calibri"/>
              </a:rPr>
              <a:t>  — one line. PyTorch handles the loop, hidden state init, and weight sharing.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8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4ED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E2E4ED"/>
                </a:solidFill>
                <a:latin typeface="Trebuchet MS"/>
                <a:ea typeface="Trebuchet MS"/>
                <a:cs typeface="Trebuchet MS"/>
                <a:sym typeface="Trebuchet MS"/>
              </a:rPr>
              <a:t>LSTM: Solving the Memory Problem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7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B8FA7"/>
                </a:solidFill>
                <a:latin typeface="Calibri"/>
                <a:ea typeface="Calibri"/>
                <a:cs typeface="Calibri"/>
                <a:sym typeface="Calibri"/>
              </a:rPr>
              <a:t>Gates control what to remember, what to forget, and what to output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" name="Google Shape;4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97280"/>
            <a:ext cx="822960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1A2340"/>
          </a:solidFill>
          <a:ln>
            <a:noFill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731520" y="35204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In PyTorch:  </a:t>
            </a:r>
            <a:r>
              <a:rPr b="0" i="0" lang="en-US" sz="1200" u="none" cap="none" strike="noStrike">
                <a:solidFill>
                  <a:srgbClr val="E2E4ED"/>
                </a:solidFill>
                <a:latin typeface="Calibri"/>
                <a:ea typeface="Calibri"/>
                <a:cs typeface="Calibri"/>
                <a:sym typeface="Calibri"/>
              </a:rPr>
              <a:t>Just swap nn.RNN → nn.LSTM. Same interface, better memory.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731520" y="388620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When to use LSTM over RNN:  </a:t>
            </a:r>
            <a:r>
              <a:rPr b="0" i="0" lang="en-US" sz="1200" u="none" cap="none" strike="noStrike">
                <a:solidFill>
                  <a:srgbClr val="8B8FA7"/>
                </a:solidFill>
                <a:latin typeface="Calibri"/>
                <a:ea typeface="Calibri"/>
                <a:cs typeface="Calibri"/>
                <a:sym typeface="Calibri"/>
              </a:rPr>
              <a:t>Any time your sequences are longer than ~10–20 steps, or when long-range dependencies matter (most real-world tasks).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731520" y="42976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Same 5-step training loop. </a:t>
            </a:r>
            <a:r>
              <a:rPr b="0" i="0" lang="en-US" sz="1200" u="none" cap="none" strike="noStrike">
                <a:solidFill>
                  <a:srgbClr val="8B8FA7"/>
                </a:solidFill>
                <a:latin typeface="Calibri"/>
                <a:ea typeface="Calibri"/>
                <a:cs typeface="Calibri"/>
                <a:sym typeface="Calibri"/>
              </a:rPr>
              <a:t>Same nn.Module. Same optimizer. The architecture handles the sequence processing internally.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8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4ED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E2E4ED"/>
                </a:solidFill>
                <a:latin typeface="Trebuchet MS"/>
                <a:ea typeface="Trebuchet MS"/>
                <a:cs typeface="Trebuchet MS"/>
                <a:sym typeface="Trebuchet MS"/>
              </a:rPr>
              <a:t>One Architecture, Two Domains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7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B8FA7"/>
                </a:solidFill>
                <a:latin typeface="Calibri"/>
                <a:ea typeface="Calibri"/>
                <a:cs typeface="Calibri"/>
                <a:sym typeface="Calibri"/>
              </a:rPr>
              <a:t>Same RNN/LSTM, different data — text vs numbers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5" y="1325868"/>
            <a:ext cx="82296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4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1A2340"/>
          </a:solidFill>
          <a:ln>
            <a:noFill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731520" y="315468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What changes:  </a:t>
            </a:r>
            <a:r>
              <a:rPr b="0" i="0" lang="en-US" sz="1200" u="none" cap="none" strike="noStrike">
                <a:solidFill>
                  <a:srgbClr val="E2E4ED"/>
                </a:solidFill>
                <a:latin typeface="Calibri"/>
                <a:ea typeface="Calibri"/>
                <a:cs typeface="Calibri"/>
                <a:sym typeface="Calibri"/>
              </a:rPr>
              <a:t>Input representation (word embeddings vs raw numbers), loss function (BCE vs MSE), and which hidden state to use (last-step vs all steps).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31520" y="36576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What stays the same:  </a:t>
            </a:r>
            <a:r>
              <a:rPr b="0" i="0" lang="en-US" sz="1200" u="none" cap="none" strike="noStrike">
                <a:solidFill>
                  <a:srgbClr val="E2E4ED"/>
                </a:solidFill>
                <a:latin typeface="Calibri"/>
                <a:ea typeface="Calibri"/>
                <a:cs typeface="Calibri"/>
                <a:sym typeface="Calibri"/>
              </a:rPr>
              <a:t>nn.RNN / nn.LSTM module, the hidden state mechanism, the 5-step training loop, Adam optimizer.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731520" y="41605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6A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6AEF"/>
                </a:solidFill>
                <a:latin typeface="Calibri"/>
                <a:ea typeface="Calibri"/>
                <a:cs typeface="Calibri"/>
                <a:sym typeface="Calibri"/>
              </a:rPr>
              <a:t>New layer:  </a:t>
            </a:r>
            <a:r>
              <a:rPr b="0" i="0" lang="en-US" sz="1200" u="none" cap="none" strike="noStrike">
                <a:solidFill>
                  <a:srgbClr val="7C6AEF"/>
                </a:solidFill>
                <a:latin typeface="Consolas"/>
                <a:ea typeface="Consolas"/>
                <a:cs typeface="Consolas"/>
                <a:sym typeface="Consolas"/>
              </a:rPr>
              <a:t>nn.Embedding(vocab_size, embed_dim)</a:t>
            </a:r>
            <a:r>
              <a:rPr b="0" i="0" lang="en-US" sz="1200" u="none" cap="none" strike="noStrike">
                <a:solidFill>
                  <a:srgbClr val="8B8FA7"/>
                </a:solidFill>
                <a:latin typeface="Calibri"/>
                <a:ea typeface="Calibri"/>
                <a:cs typeface="Calibri"/>
                <a:sym typeface="Calibri"/>
              </a:rPr>
              <a:t> — turns word indices into dense vectors. Only needed for NLP.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8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4ED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E2E4ED"/>
                </a:solidFill>
                <a:latin typeface="Trebuchet MS"/>
                <a:ea typeface="Trebuchet MS"/>
                <a:cs typeface="Trebuchet MS"/>
                <a:sym typeface="Trebuchet MS"/>
              </a:rPr>
              <a:t>Today's Coding Session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57200" y="1051560"/>
            <a:ext cx="2606040" cy="3017520"/>
          </a:xfrm>
          <a:prstGeom prst="rect">
            <a:avLst/>
          </a:prstGeom>
          <a:solidFill>
            <a:srgbClr val="1A2340"/>
          </a:solidFill>
          <a:ln>
            <a:noFill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57200" y="1051560"/>
            <a:ext cx="2606040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594360" y="12344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8FA7"/>
                </a:solidFill>
                <a:latin typeface="Calibri"/>
                <a:ea typeface="Calibri"/>
                <a:cs typeface="Calibri"/>
                <a:sym typeface="Calibri"/>
              </a:rPr>
              <a:t>~18 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" name="Google Shape;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16002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548640" y="237744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4ED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E2E4ED"/>
                </a:solidFill>
                <a:latin typeface="Trebuchet MS"/>
                <a:ea typeface="Trebuchet MS"/>
                <a:cs typeface="Trebuchet MS"/>
                <a:sym typeface="Trebuchet MS"/>
              </a:rPr>
              <a:t>Sentiment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4ED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E2E4ED"/>
                </a:solidFill>
                <a:latin typeface="Trebuchet MS"/>
                <a:ea typeface="Trebuchet MS"/>
                <a:cs typeface="Trebuchet MS"/>
                <a:sym typeface="Trebuchet MS"/>
              </a:rPr>
              <a:t>Analysis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40080" y="2926080"/>
            <a:ext cx="2240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8FA7"/>
                </a:solidFill>
                <a:latin typeface="Calibri"/>
                <a:ea typeface="Calibri"/>
                <a:cs typeface="Calibri"/>
                <a:sym typeface="Calibri"/>
              </a:rPr>
              <a:t>Tokenize text, embed words, train RNN vs LSTM on movie reviews. NLP classification.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291840" y="1051560"/>
            <a:ext cx="2606040" cy="3017520"/>
          </a:xfrm>
          <a:prstGeom prst="rect">
            <a:avLst/>
          </a:prstGeom>
          <a:solidFill>
            <a:srgbClr val="1A2340"/>
          </a:solidFill>
          <a:ln>
            <a:noFill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3291840" y="1051560"/>
            <a:ext cx="2606040" cy="6400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3429000" y="12344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8FA7"/>
                </a:solidFill>
                <a:latin typeface="Calibri"/>
                <a:ea typeface="Calibri"/>
                <a:cs typeface="Calibri"/>
                <a:sym typeface="Calibri"/>
              </a:rPr>
              <a:t>~15 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1960" y="16002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3383280" y="237744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4ED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E2E4ED"/>
                </a:solidFill>
                <a:latin typeface="Trebuchet MS"/>
                <a:ea typeface="Trebuchet MS"/>
                <a:cs typeface="Trebuchet MS"/>
                <a:sym typeface="Trebuchet MS"/>
              </a:rPr>
              <a:t>Time Series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4ED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E2E4ED"/>
                </a:solidFill>
                <a:latin typeface="Trebuchet MS"/>
                <a:ea typeface="Trebuchet MS"/>
                <a:cs typeface="Trebuchet MS"/>
                <a:sym typeface="Trebuchet MS"/>
              </a:rPr>
              <a:t>Prediction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474720" y="2926080"/>
            <a:ext cx="2240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8FA7"/>
                </a:solidFill>
                <a:latin typeface="Calibri"/>
                <a:ea typeface="Calibri"/>
                <a:cs typeface="Calibri"/>
                <a:sym typeface="Calibri"/>
              </a:rPr>
              <a:t>Lookback window on synthetic data. Same RNN predicts next values. Regression task.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126480" y="1051560"/>
            <a:ext cx="2606040" cy="3017520"/>
          </a:xfrm>
          <a:prstGeom prst="rect">
            <a:avLst/>
          </a:prstGeom>
          <a:solidFill>
            <a:srgbClr val="1A2340"/>
          </a:solidFill>
          <a:ln>
            <a:noFill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6126480" y="1051560"/>
            <a:ext cx="2606040" cy="640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6263640" y="12344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F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8FA7"/>
                </a:solidFill>
                <a:latin typeface="Calibri"/>
                <a:ea typeface="Calibri"/>
                <a:cs typeface="Calibri"/>
                <a:sym typeface="Calibri"/>
              </a:rPr>
              <a:t>~5 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86600" y="16002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/>
          <p:nvPr/>
        </p:nvSpPr>
        <p:spPr>
          <a:xfrm>
            <a:off x="6217920" y="237744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4ED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E2E4ED"/>
                </a:solidFill>
                <a:latin typeface="Trebuchet MS"/>
                <a:ea typeface="Trebuchet MS"/>
                <a:cs typeface="Trebuchet MS"/>
                <a:sym typeface="Trebuchet MS"/>
              </a:rPr>
              <a:t>Comparison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309360" y="2926080"/>
            <a:ext cx="2240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8FA7"/>
                </a:solidFill>
                <a:latin typeface="Calibri"/>
                <a:ea typeface="Calibri"/>
                <a:cs typeface="Calibri"/>
                <a:sym typeface="Calibri"/>
              </a:rPr>
              <a:t>Same architecture, two domains. What changed, what stayed the same across all 8 weeks.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1A2340"/>
          </a:solidFill>
          <a:ln>
            <a:noFill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6AE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C6AEF"/>
                </a:solidFill>
                <a:latin typeface="Calibri"/>
                <a:ea typeface="Calibri"/>
                <a:cs typeface="Calibri"/>
                <a:sym typeface="Calibri"/>
              </a:rPr>
              <a:t>+ 10 min Q&amp;A at the 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628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A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4ED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E2E4ED"/>
                </a:solidFill>
                <a:latin typeface="Trebuchet MS"/>
                <a:ea typeface="Trebuchet MS"/>
                <a:cs typeface="Trebuchet MS"/>
                <a:sym typeface="Trebuchet MS"/>
              </a:rPr>
              <a:t>Questions?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3200400" y="2743200"/>
            <a:ext cx="2743200" cy="13716"/>
          </a:xfrm>
          <a:prstGeom prst="rect">
            <a:avLst/>
          </a:prstGeom>
          <a:solidFill>
            <a:srgbClr val="2E33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B8FA7"/>
                </a:solidFill>
                <a:latin typeface="Calibri"/>
                <a:ea typeface="Calibri"/>
                <a:cs typeface="Calibri"/>
                <a:sym typeface="Calibri"/>
              </a:rPr>
              <a:t>Weeks 7–8: Recurrent Neural Networks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8FA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8FA7"/>
                </a:solidFill>
                <a:latin typeface="Calibri"/>
                <a:ea typeface="Calibri"/>
                <a:cs typeface="Calibri"/>
                <a:sym typeface="Calibri"/>
              </a:rPr>
              <a:t>IIT Madras  ·  Wadhwani School of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2026-04-04T13:10:01Z</dcterms:created>
  <dc:creator>Prof. Ganapathy Krishnamurthi</dc:creator>
</cp:coreProperties>
</file>